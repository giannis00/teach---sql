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7602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0"/>
            <a:ext cx="2743200" cy="68580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1750040" y="0"/>
            <a:ext cx="411480" cy="685800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25603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2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introduction to combining tables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5486400"/>
            <a:ext cx="45720" cy="73152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5486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Ioannis Tsioulis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5870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i.tsioulis@mc-class.gr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JOIN?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related data back together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6400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relational database, data is usually split across multiple tables to avoid repetition.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6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SQL operation that combines rows from two or more tables based on a </a:t>
            </a:r>
            <a:r>
              <a:rPr lang="en-US" sz="16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column</a:t>
            </a: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them.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matching puzzle pieces — data lives in separate tables, and joins let you bring it together into one unified result.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BF4FA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class_id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64040" y="21031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9875520" y="182880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BF4FA"/>
          </a:solidFill>
          <a:ln w="19050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0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name · teacher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772400" y="4114800"/>
            <a:ext cx="3657600" cy="1280160"/>
          </a:xfrm>
          <a:prstGeom prst="roundRect">
            <a:avLst>
              <a:gd name="adj" fmla="val 5714"/>
            </a:avLst>
          </a:prstGeom>
          <a:solidFill>
            <a:srgbClr val="F6AD5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Result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4617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· class · teacher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 Joins?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real-world analogy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school system.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ED7D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86000"/>
            <a:ext cx="5394960" cy="73152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 GIANT 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+ class info in a single table.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row repeats: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class 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teacher 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classroom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Redundant, error-prone, hard to update.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C6F6D5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286000"/>
            <a:ext cx="5394960" cy="73152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SEPARATE TABLES + JOIN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one table, classes in another.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them with a shared column: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class_id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JOIN when you need the full picture.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repetition, easy to update.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Main Types of Joins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returns a different slice of the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1777" y="2242109"/>
            <a:ext cx="1185062" cy="1185062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3561" y="2242109"/>
            <a:ext cx="1185062" cy="1185062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3561" y="2377440"/>
            <a:ext cx="533278" cy="910742"/>
          </a:xfrm>
          <a:prstGeom prst="ellipse">
            <a:avLst/>
          </a:prstGeom>
          <a:solidFill>
            <a:srgbClr val="F6AD55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1777" y="3472891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33561" y="3472891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2651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that match in BOTH tables.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7373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5337" y="2242109"/>
            <a:ext cx="1185062" cy="1185062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57121" y="2242109"/>
            <a:ext cx="1185062" cy="1185062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5337" y="3472891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57121" y="3472891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7532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75320" y="26517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left + matches from the right.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777" y="4756709"/>
            <a:ext cx="1185062" cy="1185062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33561" y="4756709"/>
            <a:ext cx="1185062" cy="1185062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777" y="5987491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33561" y="5987491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651760" y="5166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right + matches from the left.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425196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5337" y="4756709"/>
            <a:ext cx="1185062" cy="1185062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57121" y="4756709"/>
            <a:ext cx="1185062" cy="1185062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5337" y="5987491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57121" y="5987491"/>
            <a:ext cx="118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75320" y="4617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275320" y="51663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JOIN Syntax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every JOIN query follows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10332720" cy="2286000"/>
          </a:xfrm>
          <a:prstGeom prst="roundRect">
            <a:avLst>
              <a:gd name="adj" fmla="val 3200"/>
            </a:avLst>
          </a:prstGeom>
          <a:solidFill>
            <a:srgbClr val="1E2A3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002536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2002536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2002536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923544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syntax.sql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242316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8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8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r>
              <a:rPr lang="en-US" sz="18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8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table2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8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table1.common_column = table2.common_column;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663440"/>
            <a:ext cx="73152" cy="146304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6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(left) table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4663440"/>
            <a:ext cx="73152" cy="146304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6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1772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you attach to 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55280" y="4663440"/>
            <a:ext cx="73152" cy="146304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D6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50749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match (shared column)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Example Tables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these throughout the lab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029200" cy="21945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8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94560"/>
          <a:ext cx="5029200" cy="14630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9377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5E6"/>
          </a:solidFill>
          <a:ln/>
        </p:spPr>
      </p:sp>
      <p:sp>
        <p:nvSpPr>
          <p:cNvPr id="11" name="Shape 7"/>
          <p:cNvSpPr/>
          <p:nvPr/>
        </p:nvSpPr>
        <p:spPr>
          <a:xfrm>
            <a:off x="548640" y="4937760"/>
            <a:ext cx="73152" cy="137160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2" name="Text 8"/>
          <p:cNvSpPr/>
          <p:nvPr/>
        </p:nvSpPr>
        <p:spPr>
          <a:xfrm>
            <a:off x="822960" y="50292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mismatches (highlighted in amber):</a:t>
            </a:r>
            <a:endParaRPr lang="en-US" sz="1300" dirty="0"/>
          </a:p>
          <a:p>
            <a:pPr marL="0" indent="0">
              <a:buNone/>
            </a:pPr>
            <a:r>
              <a:rPr lang="en-US" sz="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David has NULL class    • Eve's class 30 does not exist    • Physics (40) has no students</a:t>
            </a:r>
            <a:endParaRPr lang="en-US" sz="1300" dirty="0"/>
          </a:p>
        </p:txBody>
      </p:sp>
      <p:sp>
        <p:nvSpPr>
          <p:cNvPr id="9" name="Text 9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rows that match in both tables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3814" y="2029968"/>
            <a:ext cx="1975104" cy="1975104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0122" y="2029968"/>
            <a:ext cx="1975104" cy="1975104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0122" y="2217420"/>
            <a:ext cx="888797" cy="1600200"/>
          </a:xfrm>
          <a:prstGeom prst="ellipse">
            <a:avLst/>
          </a:prstGeom>
          <a:solidFill>
            <a:srgbClr val="F6AD55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3814" y="40507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30122" y="40507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6AD5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only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1645920"/>
            <a:ext cx="7772400" cy="2011680"/>
          </a:xfrm>
          <a:prstGeom prst="roundRect">
            <a:avLst>
              <a:gd name="adj" fmla="val 3636"/>
            </a:avLst>
          </a:prstGeom>
          <a:solidFill>
            <a:srgbClr val="1E2A3A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0" y="1819656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1819656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1819656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inner_join.sql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69080" y="2240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s.name, c.class_name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Students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Classes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s.class_id = c.class_id;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 rows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4251960"/>
          <a:ext cx="5029200" cy="12801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3840480" y="5943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(NULL class) and Eve (class 30 not in Classes) are excluded.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left + matches from the right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3814" y="2029968"/>
            <a:ext cx="1975104" cy="1975104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0122" y="2029968"/>
            <a:ext cx="1975104" cy="1975104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814" y="40507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30122" y="40507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4805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6AD5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left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645920"/>
            <a:ext cx="7772400" cy="2011680"/>
          </a:xfrm>
          <a:prstGeom prst="roundRect">
            <a:avLst>
              <a:gd name="adj" fmla="val 3636"/>
            </a:avLst>
          </a:prstGeom>
          <a:solidFill>
            <a:srgbClr val="1E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1819656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1819656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819656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left_join.sql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2240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s.name, c.class_name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Students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Classes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s.class_id = c.class_id;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5 students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4251960"/>
          <a:ext cx="5029200" cy="1645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the right + matches from the left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3814" y="2029968"/>
            <a:ext cx="1975104" cy="1975104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0122" y="2029968"/>
            <a:ext cx="1975104" cy="1975104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814" y="40507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30122" y="40507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4805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6AD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645920"/>
            <a:ext cx="7772400" cy="2011680"/>
          </a:xfrm>
          <a:prstGeom prst="roundRect">
            <a:avLst>
              <a:gd name="adj" fmla="val 3636"/>
            </a:avLst>
          </a:prstGeom>
          <a:solidFill>
            <a:srgbClr val="1E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1819656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1819656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819656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right_join.sql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2240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s.name, c.class_name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Students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Classes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s.class_id = c.class_id;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row per class match + empty classes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4251960"/>
          <a:ext cx="5029200" cy="1600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i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 tables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3814" y="2029968"/>
            <a:ext cx="1975104" cy="1975104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0122" y="2029968"/>
            <a:ext cx="1975104" cy="1975104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814" y="40507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30122" y="4050792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4805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6AD5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80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645920"/>
            <a:ext cx="7772400" cy="2011680"/>
          </a:xfrm>
          <a:prstGeom prst="roundRect">
            <a:avLst>
              <a:gd name="adj" fmla="val 3636"/>
            </a:avLst>
          </a:prstGeom>
          <a:solidFill>
            <a:srgbClr val="1E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1819656"/>
            <a:ext cx="146304" cy="14630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1819656"/>
            <a:ext cx="146304" cy="14630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389120" y="1819656"/>
            <a:ext cx="146304" cy="14630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0" y="1719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full_outer.sql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2240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s.name, c.class_name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Students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Classes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4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s.class_id = c.class_id;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student and every class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4251960"/>
          <a:ext cx="5029200" cy="1813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DD6B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Glance: All Four Joins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four different views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743200" cy="4572000"/>
          </a:xfrm>
          <a:prstGeom prst="roundRect">
            <a:avLst>
              <a:gd name="adj" fmla="val 2667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6699" y="2626157"/>
            <a:ext cx="1514246" cy="1514246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9535" y="2626157"/>
            <a:ext cx="1514246" cy="1514246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9535" y="2783770"/>
            <a:ext cx="681411" cy="1199019"/>
          </a:xfrm>
          <a:prstGeom prst="ellipse">
            <a:avLst/>
          </a:prstGeom>
          <a:solidFill>
            <a:srgbClr val="F6AD55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6699" y="4186123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79535" y="4186123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54864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47288" y="1645920"/>
            <a:ext cx="2743200" cy="4572000"/>
          </a:xfrm>
          <a:prstGeom prst="roundRect">
            <a:avLst>
              <a:gd name="adj" fmla="val 2667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7288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45347" y="2626157"/>
            <a:ext cx="1514246" cy="1514246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78183" y="2626157"/>
            <a:ext cx="1514246" cy="1514246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5347" y="4186123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78183" y="4186123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47288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3447288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47288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45936" y="1645920"/>
            <a:ext cx="2743200" cy="4572000"/>
          </a:xfrm>
          <a:prstGeom prst="roundRect">
            <a:avLst>
              <a:gd name="adj" fmla="val 2667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45936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43995" y="2626157"/>
            <a:ext cx="1514246" cy="1514246"/>
          </a:xfrm>
          <a:prstGeom prst="ellipse">
            <a:avLst/>
          </a:prstGeom>
          <a:solidFill>
            <a:srgbClr val="CBD5E0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76831" y="2626157"/>
            <a:ext cx="1514246" cy="1514246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43995" y="4186123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76831" y="4186123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45936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000" dirty="0"/>
          </a:p>
        </p:txBody>
      </p:sp>
      <p:sp>
        <p:nvSpPr>
          <p:cNvPr id="32" name="Text 30"/>
          <p:cNvSpPr/>
          <p:nvPr/>
        </p:nvSpPr>
        <p:spPr>
          <a:xfrm>
            <a:off x="6345936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45936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classes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44584" y="1645920"/>
            <a:ext cx="2743200" cy="4572000"/>
          </a:xfrm>
          <a:prstGeom prst="roundRect">
            <a:avLst>
              <a:gd name="adj" fmla="val 2667"/>
            </a:avLst>
          </a:prstGeom>
          <a:solidFill>
            <a:srgbClr val="F7FA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44584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442643" y="2626157"/>
            <a:ext cx="1514246" cy="1514246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5479" y="2626157"/>
            <a:ext cx="1514246" cy="1514246"/>
          </a:xfrm>
          <a:prstGeom prst="ellipse">
            <a:avLst/>
          </a:prstGeom>
          <a:solidFill>
            <a:srgbClr val="F6AD55">
              <a:alpha val="70000"/>
            </a:srgbClr>
          </a:solidFill>
          <a:ln w="254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42643" y="4186123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275479" y="4186123"/>
            <a:ext cx="15142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44584" y="4617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000" dirty="0"/>
          </a:p>
        </p:txBody>
      </p:sp>
      <p:sp>
        <p:nvSpPr>
          <p:cNvPr id="41" name="Text 39"/>
          <p:cNvSpPr/>
          <p:nvPr/>
        </p:nvSpPr>
        <p:spPr>
          <a:xfrm>
            <a:off x="9244584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44584" y="5760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 these beginner mistakes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640080" cy="64008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ON clause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ON, many databases fall back to a CROSS JOIN — a massive Cartesian product. Always match on a column.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640080" cy="64008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040880" y="1755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LEFT with RIGHT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2402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'left' table is the one right after FROM. When in doubt, swap the tables and use LEFT JOIN — it reads more naturally.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* with LEFT JOIN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434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COUNT(*) counts every output row (including unmatched rows). To count real matches, use COUNT(right_table.id) so unmatched rows return 0.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640080" cy="64008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040880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column names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40880" y="4434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tables have a column called id or name, you must qualify it: students.name, not just name. Aliases (s, c) make queries much cleaner.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12880" y="365760"/>
            <a:ext cx="201168" cy="201168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0" cy="54864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PRACTICE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Lab 3 exercises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exercises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CREATE TABLE &amp; INSERT code from the lab PDF, then work through each exercise.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everything here: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6AD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programiz.com/sql/online-compiler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 on the last page of the answers PDF.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377440"/>
            <a:ext cx="54864" cy="105156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– SQL Joins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Beginner-friendly, with "Try it Yourself"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2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w3schools.com/sql/sql_join.asp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611880"/>
            <a:ext cx="54864" cy="105156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Horror – A Visual Explanation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Venn diagram article by Jeff Atwood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297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2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blog.codinghorror.com/a-visual-explanation-of-sql-joins/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4846320"/>
            <a:ext cx="54864" cy="105156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LearnSQL – JOINs Made Easy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5212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example with artists &amp; songs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532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2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learnsql.com/blog/sql-joins-made-easy/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— Lab 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practice what we just learned.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937760" y="4480560"/>
            <a:ext cx="2286000" cy="27432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Ioannis Tsioulis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i.tsioulis@mc-class.gr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1164</Words>
  <Application>Microsoft Office PowerPoint</Application>
  <PresentationFormat>Ευρεία οθόνη</PresentationFormat>
  <Paragraphs>299</Paragraphs>
  <Slides>14</Slides>
  <Notes>14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Joins - Lab 3</dc:title>
  <dc:subject>PptxGenJS Presentation</dc:subject>
  <dc:creator>Professor Ioannis Tsioulis</dc:creator>
  <cp:lastModifiedBy>Giannis Tsioulis</cp:lastModifiedBy>
  <cp:revision>3</cp:revision>
  <dcterms:created xsi:type="dcterms:W3CDTF">2026-04-19T20:09:20Z</dcterms:created>
  <dcterms:modified xsi:type="dcterms:W3CDTF">2026-04-19T20:12:41Z</dcterms:modified>
</cp:coreProperties>
</file>